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5943600" y="-914400"/>
            <a:ext cx="4572000" cy="7315200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SURCAL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0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Buyer's Market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reverse marketplace where buyers set the terms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sellers compete to win their business.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146304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0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marketplaces are built for sellers.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7680960" cy="68580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54864" cy="685800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Buyer Leverage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scroll through endless listings, compare prices manually, and accept whatever sellers offer.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7680960" cy="68580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" cy="685800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43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Pricing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set prices with no competition. Buyers have no way to know if they're overpaying.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7680960" cy="68580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11880"/>
            <a:ext cx="54864" cy="685800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57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Seller-First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marketplace feature — search, filters, recommendations — is designed to help sellers sell, not buyers buy.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00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$5.2T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651760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e-commerce market with zero buyer-first platforms at scale.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0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SURCAL flips the marketplace.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browsing seller listings, buyers post exactly what they need — and sellers compete with bids to win the business.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2377440" cy="256032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4231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Buyer Posts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need,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budget range,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category.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194560"/>
            <a:ext cx="2377440" cy="256032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4231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Sellers Bid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sellers compete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prices, timelines,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credentials.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2194560"/>
            <a:ext cx="2377440" cy="256032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42316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Buyer Chooses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0080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bids side-by-side,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trust scores,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the best offer.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017520"/>
            <a:ext cx="365760" cy="36576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0175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Intelligence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AI systems work together to create a smarter, safer marketplace.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703320" cy="132588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54864" cy="13258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Advisor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103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market data to suggest fair price ranges, helping buyers set realistic budgets and spot great deals.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600200"/>
            <a:ext cx="3703320" cy="132588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600200"/>
            <a:ext cx="54864" cy="13258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83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Verification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32120" y="2103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trust scores based on history, response times, and completion rates. Flags risky sellers automatically.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31520" y="3154680"/>
            <a:ext cx="3703320" cy="132588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154680"/>
            <a:ext cx="54864" cy="13258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375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291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Match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3657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buyer requests with the best-suited sellers based on expertise, pricing patterns, and past performance.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3154680"/>
            <a:ext cx="3703320" cy="132588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3154680"/>
            <a:ext cx="54864" cy="13258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291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Assistant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532120" y="3657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buyers write better requests with AI suggestions for descriptions, categories, and budget ranges.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377440" cy="201168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0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$5.2T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e-commerce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234440"/>
            <a:ext cx="2377440" cy="201168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$340B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47472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 custom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 marketplaces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377440" cy="201168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$8.5B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21792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auction &amp;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buyer-first platforms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7680960" cy="128016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0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977640"/>
            <a:ext cx="146304" cy="14630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39502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demand for price transparency at all-time high</a:t>
            </a:r>
            <a:endParaRPr lang="en-US" sz="1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178808"/>
            <a:ext cx="146304" cy="14630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80160" y="41513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capabilities now enable real-time market intelligence at scale</a:t>
            </a:r>
            <a:endParaRPr lang="en-US" sz="1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79976"/>
            <a:ext cx="146304" cy="1463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435254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 explosion created massive demand for custom services</a:t>
            </a:r>
            <a:endParaRPr lang="en-US" sz="10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81144"/>
            <a:ext cx="146304" cy="1463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45537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dominant reverse marketplace exists — the category is wide open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0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complementary revenue streams drive sustainable growth.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2377440" cy="228600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237744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requests/bids per month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AI features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access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508760"/>
            <a:ext cx="2377440" cy="228600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508760"/>
            <a:ext cx="2377440" cy="54864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0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$9.99/mo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4904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requests &amp; bids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AI suite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matching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377440" cy="228600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508760"/>
            <a:ext cx="23774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$29.99/mo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Pro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support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160520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544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Fees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54480" y="4389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escrow fee on every accepted bid. Stripe-powered secure payments protect both buyers and sellers.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Edge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560320" cy="384048"/>
          </a:xfrm>
          <a:prstGeom prst="rect">
            <a:avLst/>
          </a:prstGeom>
          <a:solidFill>
            <a:srgbClr val="25253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1280160" cy="384048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188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1280160" cy="384048"/>
          </a:xfrm>
          <a:prstGeom prst="rect">
            <a:avLst/>
          </a:prstGeom>
          <a:solidFill>
            <a:srgbClr val="25253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188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188720"/>
            <a:ext cx="1280160" cy="384048"/>
          </a:xfrm>
          <a:prstGeom prst="rect">
            <a:avLst/>
          </a:prstGeom>
          <a:solidFill>
            <a:srgbClr val="252532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188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Fiverr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1188720"/>
            <a:ext cx="1280160" cy="384048"/>
          </a:xfrm>
          <a:prstGeom prst="rect">
            <a:avLst/>
          </a:prstGeom>
          <a:solidFill>
            <a:srgbClr val="252532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188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572768"/>
            <a:ext cx="256032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572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posts request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1572768"/>
            <a:ext cx="1280160" cy="384048"/>
          </a:xfrm>
          <a:prstGeom prst="rect">
            <a:avLst/>
          </a:prstGeom>
          <a:solidFill>
            <a:srgbClr val="1A0A14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128016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1572768"/>
            <a:ext cx="128016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0" y="1572768"/>
            <a:ext cx="128016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1956816"/>
            <a:ext cx="256032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19568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compete on price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1956816"/>
            <a:ext cx="1280160" cy="384048"/>
          </a:xfrm>
          <a:prstGeom prst="rect">
            <a:avLst/>
          </a:prstGeom>
          <a:solidFill>
            <a:srgbClr val="1A0A14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19568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0" y="1956816"/>
            <a:ext cx="128016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19568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52160" y="1956816"/>
            <a:ext cx="128016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19568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32320" y="1956816"/>
            <a:ext cx="128016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19568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1520" y="2340864"/>
            <a:ext cx="256032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23408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price guidance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91840" y="2340864"/>
            <a:ext cx="1280160" cy="384048"/>
          </a:xfrm>
          <a:prstGeom prst="rect">
            <a:avLst/>
          </a:prstGeom>
          <a:solidFill>
            <a:srgbClr val="1A0A14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0" y="23408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0" y="2340864"/>
            <a:ext cx="128016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0" y="23408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852160" y="2340864"/>
            <a:ext cx="128016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1" name="Text 39"/>
          <p:cNvSpPr/>
          <p:nvPr/>
        </p:nvSpPr>
        <p:spPr>
          <a:xfrm>
            <a:off x="5852160" y="23408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132320" y="2340864"/>
            <a:ext cx="128016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0" y="23408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31520" y="2724912"/>
            <a:ext cx="256032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27249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trust scoring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91840" y="2724912"/>
            <a:ext cx="1280160" cy="384048"/>
          </a:xfrm>
          <a:prstGeom prst="rect">
            <a:avLst/>
          </a:prstGeom>
          <a:solidFill>
            <a:srgbClr val="1A0A14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0" y="27249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72000" y="2724912"/>
            <a:ext cx="128016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0" y="27249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852160" y="2724912"/>
            <a:ext cx="128016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51" name="Text 49"/>
          <p:cNvSpPr/>
          <p:nvPr/>
        </p:nvSpPr>
        <p:spPr>
          <a:xfrm>
            <a:off x="5852160" y="27249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132320" y="2724912"/>
            <a:ext cx="128016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53" name="Text 51"/>
          <p:cNvSpPr/>
          <p:nvPr/>
        </p:nvSpPr>
        <p:spPr>
          <a:xfrm>
            <a:off x="7132320" y="27249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31520" y="3108960"/>
            <a:ext cx="256032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3108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protection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91840" y="3108960"/>
            <a:ext cx="1280160" cy="384048"/>
          </a:xfrm>
          <a:prstGeom prst="rect">
            <a:avLst/>
          </a:prstGeom>
          <a:solidFill>
            <a:srgbClr val="1A0A14"/>
          </a:solidFill>
          <a:ln/>
        </p:spPr>
      </p:sp>
      <p:sp>
        <p:nvSpPr>
          <p:cNvPr id="57" name="Text 55"/>
          <p:cNvSpPr/>
          <p:nvPr/>
        </p:nvSpPr>
        <p:spPr>
          <a:xfrm>
            <a:off x="329184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572000" y="3108960"/>
            <a:ext cx="128016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852160" y="3108960"/>
            <a:ext cx="128016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61" name="Text 59"/>
          <p:cNvSpPr/>
          <p:nvPr/>
        </p:nvSpPr>
        <p:spPr>
          <a:xfrm>
            <a:off x="585216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132320" y="3108960"/>
            <a:ext cx="1280160" cy="3840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63" name="Text 61"/>
          <p:cNvSpPr/>
          <p:nvPr/>
        </p:nvSpPr>
        <p:spPr>
          <a:xfrm>
            <a:off x="713232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31520" y="3493008"/>
            <a:ext cx="256032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65" name="Text 63"/>
          <p:cNvSpPr/>
          <p:nvPr/>
        </p:nvSpPr>
        <p:spPr>
          <a:xfrm>
            <a:off x="868680" y="3493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any category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291840" y="3493008"/>
            <a:ext cx="1280160" cy="384048"/>
          </a:xfrm>
          <a:prstGeom prst="rect">
            <a:avLst/>
          </a:prstGeom>
          <a:solidFill>
            <a:srgbClr val="1A0A14"/>
          </a:solidFill>
          <a:ln/>
        </p:spPr>
      </p:sp>
      <p:sp>
        <p:nvSpPr>
          <p:cNvPr id="67" name="Text 65"/>
          <p:cNvSpPr/>
          <p:nvPr/>
        </p:nvSpPr>
        <p:spPr>
          <a:xfrm>
            <a:off x="3291840" y="3493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4572000" y="3493008"/>
            <a:ext cx="128016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0" y="3493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852160" y="3493008"/>
            <a:ext cx="128016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71" name="Text 69"/>
          <p:cNvSpPr/>
          <p:nvPr/>
        </p:nvSpPr>
        <p:spPr>
          <a:xfrm>
            <a:off x="5852160" y="3493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132320" y="3493008"/>
            <a:ext cx="1280160" cy="38404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73" name="Text 71"/>
          <p:cNvSpPr/>
          <p:nvPr/>
        </p:nvSpPr>
        <p:spPr>
          <a:xfrm>
            <a:off x="7132320" y="3493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731520" y="3749040"/>
            <a:ext cx="7680960" cy="100584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7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931920"/>
            <a:ext cx="365760" cy="36576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150876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Advantage</a:t>
            </a:r>
            <a:endParaRPr lang="en-US" sz="1500" dirty="0"/>
          </a:p>
        </p:txBody>
      </p:sp>
      <p:sp>
        <p:nvSpPr>
          <p:cNvPr id="77" name="Text 74"/>
          <p:cNvSpPr/>
          <p:nvPr/>
        </p:nvSpPr>
        <p:spPr>
          <a:xfrm>
            <a:off x="1508760" y="4206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major platform has built a true buyer-first marketplace. SURCAL combines the reverse-auction model with AI intelligence to create a category-defining product.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583680" cy="0"/>
          </a:xfrm>
          <a:prstGeom prst="line">
            <a:avLst/>
          </a:prstGeom>
          <a:noFill/>
          <a:ln w="38100">
            <a:solidFill>
              <a:srgbClr val="2525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325880"/>
            <a:ext cx="274320" cy="274320"/>
          </a:xfrm>
          <a:prstGeom prst="ellipse">
            <a:avLst/>
          </a:prstGeom>
          <a:solidFill>
            <a:srgbClr val="E5007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1965960" cy="283464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1965960" cy="54864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0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launch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marketplace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payments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Price Advisor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274320" cy="274320"/>
          </a:xfrm>
          <a:prstGeom prst="ellipse">
            <a:avLst/>
          </a:prstGeom>
          <a:solidFill>
            <a:srgbClr val="FF1A8C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1828800"/>
            <a:ext cx="1965960" cy="283464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828800"/>
            <a:ext cx="1965960" cy="54864"/>
          </a:xfrm>
          <a:prstGeom prst="rect">
            <a:avLst/>
          </a:prstGeom>
          <a:solidFill>
            <a:srgbClr val="FF1A8C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011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1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34640" y="29260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verification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Match AI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1,000 users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132588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828800"/>
            <a:ext cx="1965960" cy="283464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82880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011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83480" y="29260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marketplace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users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0960" y="1325880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903720" y="1828800"/>
            <a:ext cx="1965960" cy="283464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1828800"/>
            <a:ext cx="196596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2011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29260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expansion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integrations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users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7D"/>
          </a:solidFill>
          <a:ln/>
        </p:spPr>
      </p:sp>
      <p:sp>
        <p:nvSpPr>
          <p:cNvPr id="3" name="Shape 1"/>
          <p:cNvSpPr/>
          <p:nvPr/>
        </p:nvSpPr>
        <p:spPr>
          <a:xfrm rot="-600000">
            <a:off x="-1828800" y="-914400"/>
            <a:ext cx="4572000" cy="7315200"/>
          </a:xfrm>
          <a:prstGeom prst="rect">
            <a:avLst/>
          </a:prstGeom>
          <a:solidFill>
            <a:srgbClr val="11111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the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Buyer's Market.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SURCAL is redefining how buyers and sellers connect.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building the marketplace that puts buyers first.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4160520"/>
            <a:ext cx="4572000" cy="502920"/>
          </a:xfrm>
          <a:prstGeom prst="rect">
            <a:avLst/>
          </a:prstGeom>
          <a:solidFill>
            <a:srgbClr val="E5007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8600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hello@surcal.com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SURCAL  |  The Buyer's Market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SURCAL - The Buyer's Market | Pitch Deck</dc:title>
  <dc:subject>PptxGenJS Presentation</dc:subject>
  <dc:creator>SURCAL</dc:creator>
  <cp:lastModifiedBy>SURCAL</cp:lastModifiedBy>
  <cp:revision>1</cp:revision>
  <dcterms:created xsi:type="dcterms:W3CDTF">2026-03-17T23:00:59Z</dcterms:created>
  <dcterms:modified xsi:type="dcterms:W3CDTF">2026-03-17T23:00:59Z</dcterms:modified>
</cp:coreProperties>
</file>